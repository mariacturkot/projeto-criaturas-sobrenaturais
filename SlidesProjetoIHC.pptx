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1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3955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o OBSCURA como uma página de catálogo sobrenatural. O trabalho enfatiza a construção e avaliação da interface, não o backend. Mostrar que a apresentação passará brevemente por público, personas, IHC e protótipos.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rapidamente a motivação: reunir num lugar só um conjunto de informações que sejam simples de explorar. Ressaltar que a entrega demonstra organização visual e usabilidade de uma página, com base nos conceitos da disciplina.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amostra foi simulada, importante não falar como se tivesse entrevistado pessoas de fato. Explicar que os números são dados acadêmicos de referência, usados para justificar escolhas visuais e as necessidades da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brevemente o que é persona: personagem fictício que ajuda a projetar para necessidades específicas. A Camila representa alguém que sabe o que procura; o Rafael representa alguém que descobre os nomes ao navegar. Essas diferenças orientaram os cartões e as categorias.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que não escolhemos apenas uma estética bonita. A teoria ajudou a decidir como o usuário identifica ações e conteúdo. Destacar que os textos em Inter e os títulos em fonte expressiva mantêm personalidade sem prejudicar a leitura.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slide resume quatro representações para não transformar a apresentação numa aula de diagramas. DHT fala de tarefas, DHM de objetivos, GOMS dos métodos e DI da comunicação usuário-interface. As estimativas KLM são de operadores específicos e não uma medição com participantes reais.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interface foi feita em HTML e CSS, por isso o foco é visual e estrutural. Mostrar que há ações reais, como links internos, mas a busca ainda é uma função proposta. Essa distinção evita prometer algo que não foi implementado.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layout desktop do Figma e apontar elementos em ordem de leitura. A estrutura pretende guiar o olho do usuário: marca, proposta, catálogo e contexto sobre o site. As três criaturas aparecem com padrão igual, facilitando comparação e reconhecimento.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responsividade como adaptação de layout, não apenas redução proporcional. Destaque a organização em coluna e a manutenção do mesmo conteúdo. A representação foi feita em Figma e reproduzida com regras de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OBSCURA_01_Hero_Vertical.png"/>
          <p:cNvPicPr>
            <a:picLocks noChangeAspect="1"/>
          </p:cNvPicPr>
          <p:nvPr/>
        </p:nvPicPr>
        <p:blipFill>
          <a:blip r:embed="rId3"/>
          <a:srcRect l="13250" r="13250"/>
          <a:stretch/>
        </p:blipFill>
        <p:spPr>
          <a:xfrm>
            <a:off x="7406640" y="0"/>
            <a:ext cx="47850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479792" cy="6858000"/>
          </a:xfrm>
          <a:prstGeom prst="rect">
            <a:avLst/>
          </a:prstGeom>
          <a:solidFill>
            <a:srgbClr val="12121B"/>
          </a:solidFill>
          <a:ln w="12700">
            <a:solidFill>
              <a:srgbClr val="12121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1"/>
          <p:cNvSpPr/>
          <p:nvPr/>
        </p:nvSpPr>
        <p:spPr>
          <a:xfrm>
            <a:off x="758952" y="749808"/>
            <a:ext cx="6263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200" b="1" kern="0" spc="80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DE INTERFACE — IHC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713232" y="1527048"/>
            <a:ext cx="59893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7200" noProof="0" dirty="0">
                <a:solidFill>
                  <a:srgbClr val="D8B47B"/>
                </a:solidFill>
                <a:latin typeface="EB Garamond SC" pitchFamily="34" charset="0"/>
                <a:ea typeface="EB Garamond SC" pitchFamily="34" charset="-122"/>
                <a:cs typeface="EB Garamond SC" pitchFamily="34" charset="-120"/>
              </a:rPr>
              <a:t>OBSCURA</a:t>
            </a:r>
            <a:endParaRPr lang="pt-BR" sz="7200" noProof="0" dirty="0"/>
          </a:p>
        </p:txBody>
      </p:sp>
      <p:sp>
        <p:nvSpPr>
          <p:cNvPr id="6" name="Text 3"/>
          <p:cNvSpPr/>
          <p:nvPr/>
        </p:nvSpPr>
        <p:spPr>
          <a:xfrm>
            <a:off x="777240" y="26883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100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 Atlas do Sobrenatural</a:t>
            </a:r>
            <a:endParaRPr lang="pt-BR" sz="3100" noProof="0" dirty="0"/>
          </a:p>
        </p:txBody>
      </p:sp>
      <p:sp>
        <p:nvSpPr>
          <p:cNvPr id="7" name="Shape 4"/>
          <p:cNvSpPr/>
          <p:nvPr/>
        </p:nvSpPr>
        <p:spPr>
          <a:xfrm>
            <a:off x="795528" y="3511296"/>
            <a:ext cx="5029200" cy="0"/>
          </a:xfrm>
          <a:prstGeom prst="line">
            <a:avLst/>
          </a:prstGeom>
          <a:noFill/>
          <a:ln w="14605">
            <a:solidFill>
              <a:srgbClr val="5146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795528" y="3886200"/>
            <a:ext cx="5806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95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Catálogo visual de criaturas de terror, folclore e mitologia. </a:t>
            </a:r>
            <a:endParaRPr lang="pt-BR" sz="1950" noProof="0" dirty="0"/>
          </a:p>
        </p:txBody>
      </p:sp>
      <p:sp>
        <p:nvSpPr>
          <p:cNvPr id="9" name="Text 6"/>
          <p:cNvSpPr/>
          <p:nvPr/>
        </p:nvSpPr>
        <p:spPr>
          <a:xfrm>
            <a:off x="795528" y="5797296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530" b="1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Maria Clara Turkot Haçul</a:t>
            </a:r>
            <a:endParaRPr lang="pt-BR" sz="1530" noProof="0" dirty="0"/>
          </a:p>
        </p:txBody>
      </p:sp>
      <p:sp>
        <p:nvSpPr>
          <p:cNvPr id="10" name="Text 7"/>
          <p:cNvSpPr/>
          <p:nvPr/>
        </p:nvSpPr>
        <p:spPr>
          <a:xfrm>
            <a:off x="795528" y="6181344"/>
            <a:ext cx="5897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370" noProof="0" dirty="0">
                <a:solidFill>
                  <a:srgbClr val="C7B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Interação Humano-Computador • UNICENTRO • 2026</a:t>
            </a:r>
            <a:endParaRPr lang="pt-BR" sz="137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50" kern="0" spc="130" noProof="0" dirty="0">
                <a:solidFill>
                  <a:srgbClr val="D8B47B"/>
                </a:solidFill>
                <a:latin typeface="EB Garamond SC" pitchFamily="34" charset="0"/>
                <a:ea typeface="EB Garamond SC" pitchFamily="34" charset="-122"/>
                <a:cs typeface="EB Garamond SC" pitchFamily="34" charset="-120"/>
              </a:rPr>
              <a:t>OBSCURA</a:t>
            </a:r>
            <a:endParaRPr lang="pt-BR" sz="1650" noProof="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520" b="1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 que é o OBSCURA?</a:t>
            </a:r>
            <a:endParaRPr lang="pt-BR" sz="3520" noProof="0" dirty="0"/>
          </a:p>
        </p:txBody>
      </p:sp>
      <p:sp>
        <p:nvSpPr>
          <p:cNvPr id="4" name="Shape 2"/>
          <p:cNvSpPr/>
          <p:nvPr/>
        </p:nvSpPr>
        <p:spPr>
          <a:xfrm>
            <a:off x="658368" y="1399032"/>
            <a:ext cx="10881360" cy="0"/>
          </a:xfrm>
          <a:prstGeom prst="line">
            <a:avLst/>
          </a:prstGeom>
          <a:noFill/>
          <a:ln w="9525">
            <a:solidFill>
              <a:srgbClr val="40384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58368" y="1709928"/>
            <a:ext cx="6473952" cy="1828800"/>
          </a:xfrm>
          <a:prstGeom prst="roundRect">
            <a:avLst>
              <a:gd name="adj" fmla="val 6500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1911096"/>
            <a:ext cx="605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proposta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604418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84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OBSCURA é uma página web que reúne criaturas de diversos universos. Cada cartão mostra imagem, nome, categoria e uma descrição curta.</a:t>
            </a:r>
            <a:endParaRPr lang="pt-BR" sz="1840" noProof="0" dirty="0"/>
          </a:p>
        </p:txBody>
      </p:sp>
      <p:sp>
        <p:nvSpPr>
          <p:cNvPr id="8" name="Shape 6"/>
          <p:cNvSpPr/>
          <p:nvPr/>
        </p:nvSpPr>
        <p:spPr>
          <a:xfrm>
            <a:off x="658368" y="3730752"/>
            <a:ext cx="6473952" cy="2176272"/>
          </a:xfrm>
          <a:prstGeom prst="roundRect">
            <a:avLst>
              <a:gd name="adj" fmla="val 5462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6053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 do projeto</a:t>
            </a:r>
            <a:endParaRPr lang="pt-BR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4352544"/>
            <a:ext cx="60441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82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Aplicar conceitos de IHC na organização do conteúdo: facilitar o reconhecimento das criaturas, permitir uma navegação compreensível e manter a leitura confortável no desktop e no celular.</a:t>
            </a:r>
            <a:endParaRPr lang="pt-BR" sz="1820" noProof="0" dirty="0"/>
          </a:p>
        </p:txBody>
      </p:sp>
      <p:sp>
        <p:nvSpPr>
          <p:cNvPr id="11" name="Shape 9"/>
          <p:cNvSpPr/>
          <p:nvPr/>
        </p:nvSpPr>
        <p:spPr>
          <a:xfrm>
            <a:off x="7406640" y="1709928"/>
            <a:ext cx="4114800" cy="4197093"/>
          </a:xfrm>
          <a:prstGeom prst="roundRect">
            <a:avLst>
              <a:gd name="adj" fmla="val 2889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0" descr="/mnt/data/OBSCURA_04_Medusa.png"/>
          <p:cNvPicPr>
            <a:picLocks noChangeAspect="1"/>
          </p:cNvPicPr>
          <p:nvPr/>
        </p:nvPicPr>
        <p:blipFill>
          <a:blip r:embed="rId3"/>
          <a:srcRect t="13273" b="13273"/>
          <a:stretch/>
        </p:blipFill>
        <p:spPr>
          <a:xfrm>
            <a:off x="7580376" y="1874520"/>
            <a:ext cx="3767328" cy="2788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71816" y="4855464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200" b="1" kern="0" spc="80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EXEMPLOS DO CATÁLOGO</a:t>
            </a:r>
            <a:endParaRPr lang="pt-BR" sz="1200" noProof="0" dirty="0"/>
          </a:p>
        </p:txBody>
      </p:sp>
      <p:sp>
        <p:nvSpPr>
          <p:cNvPr id="14" name="Text 11"/>
          <p:cNvSpPr/>
          <p:nvPr/>
        </p:nvSpPr>
        <p:spPr>
          <a:xfrm>
            <a:off x="7671816" y="5212080"/>
            <a:ext cx="3611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700" noProof="0" dirty="0" err="1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Valak</a:t>
            </a:r>
            <a:r>
              <a:rPr lang="pt-BR" sz="170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• Curupira • Medusa</a:t>
            </a:r>
            <a:endParaRPr lang="pt-BR" sz="17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50" kern="0" spc="130" noProof="0" dirty="0">
                <a:solidFill>
                  <a:srgbClr val="D8B47B"/>
                </a:solidFill>
                <a:latin typeface="EB Garamond SC" pitchFamily="34" charset="0"/>
                <a:ea typeface="EB Garamond SC" pitchFamily="34" charset="-122"/>
                <a:cs typeface="EB Garamond SC" pitchFamily="34" charset="-120"/>
              </a:rPr>
              <a:t>OBSCURA</a:t>
            </a:r>
            <a:endParaRPr lang="pt-BR" sz="1650" noProof="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520" b="1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Questionário e perfil do público</a:t>
            </a:r>
            <a:endParaRPr lang="pt-BR" sz="3520" noProof="0" dirty="0"/>
          </a:p>
        </p:txBody>
      </p:sp>
      <p:sp>
        <p:nvSpPr>
          <p:cNvPr id="4" name="Shape 2"/>
          <p:cNvSpPr/>
          <p:nvPr/>
        </p:nvSpPr>
        <p:spPr>
          <a:xfrm>
            <a:off x="658368" y="1399032"/>
            <a:ext cx="10881360" cy="0"/>
          </a:xfrm>
          <a:prstGeom prst="line">
            <a:avLst/>
          </a:prstGeom>
          <a:noFill/>
          <a:ln w="9525">
            <a:solidFill>
              <a:srgbClr val="40384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6528816" cy="2112264"/>
          </a:xfrm>
          <a:prstGeom prst="roundRect">
            <a:avLst>
              <a:gd name="adj" fmla="val 5628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610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as perguntas foram pensadas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2340864"/>
            <a:ext cx="609904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80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Foram elaboradas 13 perguntas objetivas e de múltipla escolha sobre interesse em criaturas, hábitos de pesquisa, preferência por busca ou categorias, informações desejadas, tipo de dispositivo e estilo visual.</a:t>
            </a:r>
            <a:endParaRPr lang="pt-BR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658368" y="4023360"/>
            <a:ext cx="6528816" cy="1929384"/>
          </a:xfrm>
          <a:prstGeom prst="roundRect">
            <a:avLst>
              <a:gd name="adj" fmla="val 6161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868680" y="4224528"/>
            <a:ext cx="6108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 os dados foram utilizados</a:t>
            </a:r>
            <a:endParaRPr lang="pt-BR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868680" y="4645152"/>
            <a:ext cx="609904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76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trabalho utilizou uma amostra simulada de 20 perfis, com idades entre 16 e 35 anos. A simulação serviu para orientar o design e imaginar necessidades diferentes; não houve aplicação do questionário a pessoas reais.</a:t>
            </a:r>
            <a:endParaRPr lang="pt-BR" sz="1760" noProof="0" dirty="0"/>
          </a:p>
        </p:txBody>
      </p:sp>
      <p:sp>
        <p:nvSpPr>
          <p:cNvPr id="11" name="Shape 9"/>
          <p:cNvSpPr/>
          <p:nvPr/>
        </p:nvSpPr>
        <p:spPr>
          <a:xfrm>
            <a:off x="7452360" y="1719072"/>
            <a:ext cx="4078224" cy="4233672"/>
          </a:xfrm>
          <a:prstGeom prst="roundRect">
            <a:avLst>
              <a:gd name="adj" fmla="val 2915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7726680" y="1984248"/>
            <a:ext cx="3483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200" b="1" kern="0" spc="80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DA SIMULAÇÃO</a:t>
            </a:r>
            <a:endParaRPr lang="pt-BR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7735824" y="2459736"/>
            <a:ext cx="1307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600" b="1" noProof="0" dirty="0">
                <a:solidFill>
                  <a:srgbClr val="D8B47B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50%</a:t>
            </a:r>
            <a:endParaRPr lang="pt-BR" sz="3600" noProof="0" dirty="0"/>
          </a:p>
        </p:txBody>
      </p:sp>
      <p:sp>
        <p:nvSpPr>
          <p:cNvPr id="14" name="Text 12"/>
          <p:cNvSpPr/>
          <p:nvPr/>
        </p:nvSpPr>
        <p:spPr>
          <a:xfrm>
            <a:off x="9043416" y="2560320"/>
            <a:ext cx="2212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57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prefeririam acessar pelo smartphone</a:t>
            </a:r>
            <a:endParaRPr lang="pt-BR" sz="1570" noProof="0" dirty="0"/>
          </a:p>
        </p:txBody>
      </p:sp>
      <p:sp>
        <p:nvSpPr>
          <p:cNvPr id="15" name="Shape 13"/>
          <p:cNvSpPr/>
          <p:nvPr/>
        </p:nvSpPr>
        <p:spPr>
          <a:xfrm>
            <a:off x="7726680" y="3337560"/>
            <a:ext cx="3529584" cy="0"/>
          </a:xfrm>
          <a:prstGeom prst="line">
            <a:avLst/>
          </a:prstGeom>
          <a:noFill/>
          <a:ln w="8890">
            <a:solidFill>
              <a:srgbClr val="5146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7735824" y="3648456"/>
            <a:ext cx="13075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600" b="1" noProof="0" dirty="0">
                <a:solidFill>
                  <a:srgbClr val="D8B47B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65%</a:t>
            </a:r>
            <a:endParaRPr lang="pt-BR" sz="3600" noProof="0" dirty="0"/>
          </a:p>
        </p:txBody>
      </p:sp>
      <p:sp>
        <p:nvSpPr>
          <p:cNvPr id="17" name="Text 15"/>
          <p:cNvSpPr/>
          <p:nvPr/>
        </p:nvSpPr>
        <p:spPr>
          <a:xfrm>
            <a:off x="9043416" y="3730752"/>
            <a:ext cx="22128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53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apresentaram interesse alto ou muito alto no tema</a:t>
            </a:r>
            <a:endParaRPr lang="pt-BR" sz="1530" noProof="0" dirty="0"/>
          </a:p>
        </p:txBody>
      </p:sp>
      <p:sp>
        <p:nvSpPr>
          <p:cNvPr id="18" name="Shape 16"/>
          <p:cNvSpPr/>
          <p:nvPr/>
        </p:nvSpPr>
        <p:spPr>
          <a:xfrm>
            <a:off x="7726680" y="4562856"/>
            <a:ext cx="3529584" cy="0"/>
          </a:xfrm>
          <a:prstGeom prst="line">
            <a:avLst/>
          </a:prstGeom>
          <a:noFill/>
          <a:ln w="8890">
            <a:solidFill>
              <a:srgbClr val="5146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Text 17"/>
          <p:cNvSpPr/>
          <p:nvPr/>
        </p:nvSpPr>
        <p:spPr>
          <a:xfrm>
            <a:off x="7735824" y="4837176"/>
            <a:ext cx="130759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600" b="1" noProof="0" dirty="0">
                <a:solidFill>
                  <a:srgbClr val="D8B47B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40%</a:t>
            </a:r>
            <a:endParaRPr lang="pt-BR" sz="3600" noProof="0" dirty="0"/>
          </a:p>
        </p:txBody>
      </p:sp>
      <p:sp>
        <p:nvSpPr>
          <p:cNvPr id="20" name="Text 18"/>
          <p:cNvSpPr/>
          <p:nvPr/>
        </p:nvSpPr>
        <p:spPr>
          <a:xfrm>
            <a:off x="9043416" y="4882896"/>
            <a:ext cx="2231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54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indicaram preferência por busca pelo nome</a:t>
            </a:r>
            <a:endParaRPr lang="pt-BR" sz="154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50" kern="0" spc="130" noProof="0" dirty="0">
                <a:solidFill>
                  <a:srgbClr val="D8B47B"/>
                </a:solidFill>
                <a:latin typeface="EB Garamond SC" pitchFamily="34" charset="0"/>
                <a:ea typeface="EB Garamond SC" pitchFamily="34" charset="-122"/>
                <a:cs typeface="EB Garamond SC" pitchFamily="34" charset="-120"/>
              </a:rPr>
              <a:t>OBSCURA</a:t>
            </a:r>
            <a:endParaRPr lang="pt-BR" sz="1650" noProof="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520" b="1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Personas e cenários de uso</a:t>
            </a:r>
            <a:endParaRPr lang="pt-BR" sz="3520" noProof="0" dirty="0"/>
          </a:p>
        </p:txBody>
      </p:sp>
      <p:sp>
        <p:nvSpPr>
          <p:cNvPr id="4" name="Shape 2"/>
          <p:cNvSpPr/>
          <p:nvPr/>
        </p:nvSpPr>
        <p:spPr>
          <a:xfrm>
            <a:off x="658368" y="1399032"/>
            <a:ext cx="10881360" cy="0"/>
          </a:xfrm>
          <a:prstGeom prst="line">
            <a:avLst/>
          </a:prstGeom>
          <a:noFill/>
          <a:ln w="9525">
            <a:solidFill>
              <a:srgbClr val="40384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58368" y="1728216"/>
            <a:ext cx="5312664" cy="4407408"/>
          </a:xfrm>
          <a:prstGeom prst="roundRect">
            <a:avLst>
              <a:gd name="adj" fmla="val 2697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mnt/data/obscura_assets/image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975104"/>
            <a:ext cx="1463040" cy="1463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51176" y="2029968"/>
            <a:ext cx="3163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200" b="1" kern="0" spc="80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 PRIMÁRIA</a:t>
            </a:r>
            <a:endParaRPr lang="pt-BR" sz="1200" noProof="0" dirty="0"/>
          </a:p>
        </p:txBody>
      </p:sp>
      <p:sp>
        <p:nvSpPr>
          <p:cNvPr id="8" name="Text 5"/>
          <p:cNvSpPr/>
          <p:nvPr/>
        </p:nvSpPr>
        <p:spPr>
          <a:xfrm>
            <a:off x="2523744" y="2368296"/>
            <a:ext cx="31821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2700" b="1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Camila Nogueira</a:t>
            </a:r>
            <a:endParaRPr lang="pt-BR" sz="2700" noProof="0" dirty="0"/>
          </a:p>
        </p:txBody>
      </p:sp>
      <p:sp>
        <p:nvSpPr>
          <p:cNvPr id="9" name="Text 6"/>
          <p:cNvSpPr/>
          <p:nvPr/>
        </p:nvSpPr>
        <p:spPr>
          <a:xfrm>
            <a:off x="2542032" y="2944368"/>
            <a:ext cx="30175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480" noProof="0" dirty="0">
                <a:solidFill>
                  <a:srgbClr val="C7B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anos • universitária • celular</a:t>
            </a:r>
            <a:endParaRPr lang="pt-BR" sz="1480" noProof="0" dirty="0"/>
          </a:p>
        </p:txBody>
      </p:sp>
      <p:sp>
        <p:nvSpPr>
          <p:cNvPr id="10" name="Shape 7"/>
          <p:cNvSpPr/>
          <p:nvPr/>
        </p:nvSpPr>
        <p:spPr>
          <a:xfrm>
            <a:off x="932688" y="3685032"/>
            <a:ext cx="4764024" cy="0"/>
          </a:xfrm>
          <a:prstGeom prst="line">
            <a:avLst/>
          </a:prstGeom>
          <a:noFill/>
          <a:ln w="8890">
            <a:solidFill>
              <a:srgbClr val="5146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932688" y="3922776"/>
            <a:ext cx="466344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71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 interesse em terror e fantasia. Depois de assistir a </a:t>
            </a:r>
            <a:r>
              <a:rPr lang="pt-BR" sz="1710" noProof="0" dirty="0" err="1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r>
              <a:rPr lang="pt-BR" sz="171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Freira, procura </a:t>
            </a:r>
            <a:r>
              <a:rPr lang="pt-BR" sz="1710" noProof="0" dirty="0" err="1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Valak</a:t>
            </a:r>
            <a:r>
              <a:rPr lang="pt-BR" sz="171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identifica seu cartão pelo nome e pela imagem. Precisa encontrar o conteúdo com facilidade.</a:t>
            </a:r>
            <a:endParaRPr lang="pt-BR" sz="1710" noProof="0" dirty="0"/>
          </a:p>
        </p:txBody>
      </p:sp>
      <p:sp>
        <p:nvSpPr>
          <p:cNvPr id="12" name="Shape 9"/>
          <p:cNvSpPr/>
          <p:nvPr/>
        </p:nvSpPr>
        <p:spPr>
          <a:xfrm>
            <a:off x="6217920" y="1728216"/>
            <a:ext cx="5312664" cy="4407408"/>
          </a:xfrm>
          <a:prstGeom prst="roundRect">
            <a:avLst>
              <a:gd name="adj" fmla="val 2697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1" descr="/mnt/data/obscura_assets/image2.jpeg"/>
          <p:cNvPicPr>
            <a:picLocks noChangeAspect="1"/>
          </p:cNvPicPr>
          <p:nvPr/>
        </p:nvPicPr>
        <p:blipFill>
          <a:blip r:embed="rId4"/>
          <a:srcRect l="355" r="355"/>
          <a:stretch/>
        </p:blipFill>
        <p:spPr>
          <a:xfrm>
            <a:off x="6473952" y="1975104"/>
            <a:ext cx="1463040" cy="1463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92440" y="20299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200" b="1" kern="0" spc="80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 SECUNDÁRIA</a:t>
            </a:r>
            <a:endParaRPr lang="pt-BR" sz="1200" noProof="0" dirty="0"/>
          </a:p>
        </p:txBody>
      </p:sp>
      <p:sp>
        <p:nvSpPr>
          <p:cNvPr id="15" name="Text 11"/>
          <p:cNvSpPr/>
          <p:nvPr/>
        </p:nvSpPr>
        <p:spPr>
          <a:xfrm>
            <a:off x="8083296" y="2368296"/>
            <a:ext cx="320954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2700" b="1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Rafael Oliveira</a:t>
            </a:r>
            <a:endParaRPr lang="pt-BR" sz="2700" noProof="0" dirty="0"/>
          </a:p>
        </p:txBody>
      </p:sp>
      <p:sp>
        <p:nvSpPr>
          <p:cNvPr id="16" name="Text 12"/>
          <p:cNvSpPr/>
          <p:nvPr/>
        </p:nvSpPr>
        <p:spPr>
          <a:xfrm>
            <a:off x="8101584" y="2944368"/>
            <a:ext cx="31363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480" noProof="0" dirty="0">
                <a:solidFill>
                  <a:srgbClr val="C7B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anos • administrativo • notebook</a:t>
            </a:r>
            <a:endParaRPr lang="pt-BR" sz="1480" noProof="0" dirty="0"/>
          </a:p>
        </p:txBody>
      </p:sp>
      <p:sp>
        <p:nvSpPr>
          <p:cNvPr id="17" name="Shape 13"/>
          <p:cNvSpPr/>
          <p:nvPr/>
        </p:nvSpPr>
        <p:spPr>
          <a:xfrm>
            <a:off x="6492240" y="3685032"/>
            <a:ext cx="4745736" cy="0"/>
          </a:xfrm>
          <a:prstGeom prst="line">
            <a:avLst/>
          </a:prstGeom>
          <a:noFill/>
          <a:ln w="8890">
            <a:solidFill>
              <a:srgbClr val="51465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4"/>
          <p:cNvSpPr/>
          <p:nvPr/>
        </p:nvSpPr>
        <p:spPr>
          <a:xfrm>
            <a:off x="6492240" y="3922776"/>
            <a:ext cx="4654296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71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Conhece pouco sobre criaturas sobrenaturais. Prefere explorar as categorias e, ao abrir Folclore, encontra o Curupira. Precisa de rótulos claros e descrições simples.</a:t>
            </a:r>
            <a:endParaRPr lang="pt-BR" sz="171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50" kern="0" spc="130" noProof="0" dirty="0">
                <a:solidFill>
                  <a:srgbClr val="D8B47B"/>
                </a:solidFill>
                <a:latin typeface="EB Garamond SC" pitchFamily="34" charset="0"/>
                <a:ea typeface="EB Garamond SC" pitchFamily="34" charset="-122"/>
                <a:cs typeface="EB Garamond SC" pitchFamily="34" charset="-120"/>
              </a:rPr>
              <a:t>OBSCURA</a:t>
            </a:r>
            <a:endParaRPr lang="pt-BR" sz="1650" noProof="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520" b="1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Como os conceitos de IHC entraram no projeto</a:t>
            </a:r>
            <a:endParaRPr lang="pt-BR" sz="3520" noProof="0" dirty="0"/>
          </a:p>
        </p:txBody>
      </p:sp>
      <p:sp>
        <p:nvSpPr>
          <p:cNvPr id="4" name="Shape 2"/>
          <p:cNvSpPr/>
          <p:nvPr/>
        </p:nvSpPr>
        <p:spPr>
          <a:xfrm>
            <a:off x="658368" y="1399032"/>
            <a:ext cx="10881360" cy="0"/>
          </a:xfrm>
          <a:prstGeom prst="line">
            <a:avLst/>
          </a:prstGeom>
          <a:noFill/>
          <a:ln w="9525">
            <a:solidFill>
              <a:srgbClr val="40384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5404104" cy="2148840"/>
          </a:xfrm>
          <a:prstGeom prst="roundRect">
            <a:avLst>
              <a:gd name="adj" fmla="val 5532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983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Centrado no Usuário (DCU)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2340864"/>
            <a:ext cx="4974336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75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Partimos das necessidades representadas no questionário, definimos as informações prioritárias, criamos personas e cenários e só depois desenhamos as telas no </a:t>
            </a:r>
            <a:r>
              <a:rPr lang="pt-BR" sz="1750" noProof="0" dirty="0" err="1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</a:t>
            </a:r>
            <a:r>
              <a:rPr lang="pt-BR" sz="175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 processo permite revisar decisões.</a:t>
            </a:r>
            <a:endParaRPr lang="pt-BR" sz="1750" noProof="0" dirty="0"/>
          </a:p>
        </p:txBody>
      </p:sp>
      <p:sp>
        <p:nvSpPr>
          <p:cNvPr id="8" name="Shape 6"/>
          <p:cNvSpPr/>
          <p:nvPr/>
        </p:nvSpPr>
        <p:spPr>
          <a:xfrm>
            <a:off x="6236208" y="1719072"/>
            <a:ext cx="5294376" cy="2148840"/>
          </a:xfrm>
          <a:prstGeom prst="roundRect">
            <a:avLst>
              <a:gd name="adj" fmla="val 5532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6446520" y="1920240"/>
            <a:ext cx="4873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Engenharia Semiótica e signos</a:t>
            </a:r>
            <a:endParaRPr lang="pt-BR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446520" y="2340864"/>
            <a:ext cx="4864608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73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interface comunica seu funcionamento por títulos, categorias, imagens, descrições e ícone de lupa. Esses são signos visuais. Os destaques em CSS representam respostas visuais à interação.</a:t>
            </a:r>
            <a:endParaRPr lang="pt-BR" sz="1730" noProof="0" dirty="0"/>
          </a:p>
        </p:txBody>
      </p:sp>
      <p:sp>
        <p:nvSpPr>
          <p:cNvPr id="11" name="Shape 9"/>
          <p:cNvSpPr/>
          <p:nvPr/>
        </p:nvSpPr>
        <p:spPr>
          <a:xfrm>
            <a:off x="658368" y="4096512"/>
            <a:ext cx="10872216" cy="1901952"/>
          </a:xfrm>
          <a:prstGeom prst="roundRect">
            <a:avLst>
              <a:gd name="adj" fmla="val 6250"/>
            </a:avLst>
          </a:prstGeom>
          <a:solidFill>
            <a:srgbClr val="2A2330"/>
          </a:solidFill>
          <a:ln w="12700">
            <a:solidFill>
              <a:srgbClr val="2A233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941832" y="4370832"/>
            <a:ext cx="10040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200" b="1" kern="0" spc="80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PRINCÍPIOS APLICADOS</a:t>
            </a:r>
            <a:endParaRPr lang="pt-BR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950976" y="4782312"/>
            <a:ext cx="101955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90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Hierarquia visual para destacar o título e as criaturas; consistência nos cartões; contraste entre fundo e texto; tipografia legível; reconhecimento por imagem e navegação simples.</a:t>
            </a:r>
            <a:endParaRPr lang="pt-BR" sz="19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50" kern="0" spc="130" noProof="0" dirty="0">
                <a:solidFill>
                  <a:srgbClr val="D8B47B"/>
                </a:solidFill>
                <a:latin typeface="EB Garamond SC" pitchFamily="34" charset="0"/>
                <a:ea typeface="EB Garamond SC" pitchFamily="34" charset="-122"/>
                <a:cs typeface="EB Garamond SC" pitchFamily="34" charset="-120"/>
              </a:rPr>
              <a:t>OBSCURA</a:t>
            </a:r>
            <a:endParaRPr lang="pt-BR" sz="1650" noProof="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520" b="1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Modelos usados para pensar as tarefas</a:t>
            </a:r>
            <a:endParaRPr lang="pt-BR" sz="3520" noProof="0" dirty="0"/>
          </a:p>
        </p:txBody>
      </p:sp>
      <p:sp>
        <p:nvSpPr>
          <p:cNvPr id="4" name="Shape 2"/>
          <p:cNvSpPr/>
          <p:nvPr/>
        </p:nvSpPr>
        <p:spPr>
          <a:xfrm>
            <a:off x="658368" y="1399032"/>
            <a:ext cx="10881360" cy="0"/>
          </a:xfrm>
          <a:prstGeom prst="line">
            <a:avLst/>
          </a:prstGeom>
          <a:noFill/>
          <a:ln w="9525">
            <a:solidFill>
              <a:srgbClr val="40384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58368" y="1673352"/>
            <a:ext cx="5303520" cy="1938528"/>
          </a:xfrm>
          <a:prstGeom prst="roundRect">
            <a:avLst>
              <a:gd name="adj" fmla="val 6132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DHT — tarefas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2295144"/>
            <a:ext cx="4873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72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Decompõe o objetivo em passos: reconhecer a organização da página, localizar uma criatura e ler as informações do cartão.</a:t>
            </a:r>
            <a:endParaRPr lang="pt-BR" sz="1720" noProof="0" dirty="0"/>
          </a:p>
        </p:txBody>
      </p:sp>
      <p:sp>
        <p:nvSpPr>
          <p:cNvPr id="8" name="Shape 6"/>
          <p:cNvSpPr/>
          <p:nvPr/>
        </p:nvSpPr>
        <p:spPr>
          <a:xfrm>
            <a:off x="6172200" y="1673352"/>
            <a:ext cx="5358384" cy="1938528"/>
          </a:xfrm>
          <a:prstGeom prst="roundRect">
            <a:avLst>
              <a:gd name="adj" fmla="val 6132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6382512" y="18745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DHM — metas</a:t>
            </a:r>
            <a:endParaRPr lang="pt-BR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6382512" y="2295144"/>
            <a:ext cx="492861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73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meta principal é compreender uma criatura. O usuário pode começar pelo nome e imagem ou pela categoria temática.</a:t>
            </a:r>
            <a:endParaRPr lang="pt-BR" sz="1730" noProof="0" dirty="0"/>
          </a:p>
        </p:txBody>
      </p:sp>
      <p:sp>
        <p:nvSpPr>
          <p:cNvPr id="11" name="Shape 9"/>
          <p:cNvSpPr/>
          <p:nvPr/>
        </p:nvSpPr>
        <p:spPr>
          <a:xfrm>
            <a:off x="658368" y="3803904"/>
            <a:ext cx="5303520" cy="2103120"/>
          </a:xfrm>
          <a:prstGeom prst="roundRect">
            <a:avLst>
              <a:gd name="adj" fmla="val 5652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68680" y="4005072"/>
            <a:ext cx="4882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GOMS e KLM</a:t>
            </a:r>
            <a:endParaRPr lang="pt-BR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868680" y="4425696"/>
            <a:ext cx="48737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68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Comparamos dois métodos: Camila reconhece </a:t>
            </a:r>
            <a:r>
              <a:rPr lang="pt-BR" sz="1680" noProof="0" dirty="0" err="1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Valak</a:t>
            </a:r>
            <a:r>
              <a:rPr lang="pt-BR" sz="168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Rafael navega até Curupira. O KLM estima ações pontuais, como selecionar uma categoria (2,50 s), não o tempo total de leitura.</a:t>
            </a:r>
            <a:endParaRPr lang="pt-BR" sz="1680" noProof="0" dirty="0"/>
          </a:p>
        </p:txBody>
      </p:sp>
      <p:sp>
        <p:nvSpPr>
          <p:cNvPr id="14" name="Shape 12"/>
          <p:cNvSpPr/>
          <p:nvPr/>
        </p:nvSpPr>
        <p:spPr>
          <a:xfrm>
            <a:off x="6172200" y="3803904"/>
            <a:ext cx="5358384" cy="2103120"/>
          </a:xfrm>
          <a:prstGeom prst="roundRect">
            <a:avLst>
              <a:gd name="adj" fmla="val 5652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382512" y="4005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 — diagrama de interação</a:t>
            </a:r>
            <a:endParaRPr lang="pt-BR" sz="1600" noProof="0" dirty="0"/>
          </a:p>
        </p:txBody>
      </p:sp>
      <p:sp>
        <p:nvSpPr>
          <p:cNvPr id="16" name="Text 14"/>
          <p:cNvSpPr/>
          <p:nvPr/>
        </p:nvSpPr>
        <p:spPr>
          <a:xfrm>
            <a:off x="6382512" y="4425696"/>
            <a:ext cx="49286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70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modelo simplificado inspirado na </a:t>
            </a:r>
            <a:r>
              <a:rPr lang="pt-BR" sz="1700" noProof="0" dirty="0" err="1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MoLIC</a:t>
            </a:r>
            <a:r>
              <a:rPr lang="pt-BR" sz="170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mostra as ações do usuário (u:) e o que a interface comunica (d:). Ambos os percursos chegam à consulta dos cartões.</a:t>
            </a:r>
            <a:endParaRPr lang="pt-BR" sz="17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50" kern="0" spc="130" noProof="0" dirty="0">
                <a:solidFill>
                  <a:srgbClr val="D8B47B"/>
                </a:solidFill>
                <a:latin typeface="EB Garamond SC" pitchFamily="34" charset="0"/>
                <a:ea typeface="EB Garamond SC" pitchFamily="34" charset="-122"/>
                <a:cs typeface="EB Garamond SC" pitchFamily="34" charset="-120"/>
              </a:rPr>
              <a:t>OBSCURA</a:t>
            </a:r>
            <a:endParaRPr lang="pt-BR" sz="1650" noProof="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520" b="1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 que a interface faz — e o que não faz</a:t>
            </a:r>
            <a:endParaRPr lang="pt-BR" sz="3520" noProof="0" dirty="0"/>
          </a:p>
        </p:txBody>
      </p:sp>
      <p:sp>
        <p:nvSpPr>
          <p:cNvPr id="4" name="Shape 2"/>
          <p:cNvSpPr/>
          <p:nvPr/>
        </p:nvSpPr>
        <p:spPr>
          <a:xfrm>
            <a:off x="658368" y="1399032"/>
            <a:ext cx="10881360" cy="0"/>
          </a:xfrm>
          <a:prstGeom prst="line">
            <a:avLst/>
          </a:prstGeom>
          <a:noFill/>
          <a:ln w="9525">
            <a:solidFill>
              <a:srgbClr val="40384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5577840" cy="2395728"/>
          </a:xfrm>
          <a:prstGeom prst="roundRect">
            <a:avLst>
              <a:gd name="adj" fmla="val 4962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Recursos implementados</a:t>
            </a:r>
            <a:endParaRPr lang="pt-B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2340864"/>
            <a:ext cx="514807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75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com links internos para Início, Criaturas e Sobre; botão “Explorar criaturas”; categorias que levam aos conteúdos; cartões com imagens, títulos e descrições; layout adaptado a computador e celular.</a:t>
            </a:r>
            <a:endParaRPr lang="pt-BR" sz="1750" noProof="0" dirty="0"/>
          </a:p>
        </p:txBody>
      </p:sp>
      <p:sp>
        <p:nvSpPr>
          <p:cNvPr id="11" name="Shape 9"/>
          <p:cNvSpPr/>
          <p:nvPr/>
        </p:nvSpPr>
        <p:spPr>
          <a:xfrm>
            <a:off x="6565392" y="1719072"/>
            <a:ext cx="4956048" cy="4251960"/>
          </a:xfrm>
          <a:prstGeom prst="roundRect">
            <a:avLst>
              <a:gd name="adj" fmla="val 2796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6821424" y="1956816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7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três conteúdos do catálogo</a:t>
            </a:r>
            <a:endParaRPr lang="pt-BR" sz="1700" noProof="0" dirty="0"/>
          </a:p>
        </p:txBody>
      </p:sp>
      <p:pic>
        <p:nvPicPr>
          <p:cNvPr id="13" name="Image 0" descr="/mnt/data/OBSCURA_02_Valak.png"/>
          <p:cNvPicPr>
            <a:picLocks noChangeAspect="1"/>
          </p:cNvPicPr>
          <p:nvPr/>
        </p:nvPicPr>
        <p:blipFill>
          <a:blip r:embed="rId3"/>
          <a:srcRect t="10417" b="10417"/>
          <a:stretch/>
        </p:blipFill>
        <p:spPr>
          <a:xfrm>
            <a:off x="6848856" y="2505456"/>
            <a:ext cx="1097280" cy="8686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147304" y="2578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2400" noProof="0" dirty="0" err="1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Valak</a:t>
            </a:r>
            <a:endParaRPr lang="pt-BR" sz="2400" noProof="0" dirty="0"/>
          </a:p>
        </p:txBody>
      </p:sp>
      <p:sp>
        <p:nvSpPr>
          <p:cNvPr id="15" name="Text 12"/>
          <p:cNvSpPr/>
          <p:nvPr/>
        </p:nvSpPr>
        <p:spPr>
          <a:xfrm>
            <a:off x="8174736" y="303580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300" noProof="0" dirty="0">
                <a:solidFill>
                  <a:srgbClr val="C7B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Terror</a:t>
            </a:r>
            <a:endParaRPr lang="pt-BR" sz="1300" noProof="0" dirty="0"/>
          </a:p>
        </p:txBody>
      </p:sp>
      <p:pic>
        <p:nvPicPr>
          <p:cNvPr id="16" name="Image 1" descr="/mnt/data/OBSCURA_03_Curupira.png"/>
          <p:cNvPicPr>
            <a:picLocks noChangeAspect="1"/>
          </p:cNvPicPr>
          <p:nvPr/>
        </p:nvPicPr>
        <p:blipFill>
          <a:blip r:embed="rId4"/>
          <a:srcRect t="13420" b="13420"/>
          <a:stretch/>
        </p:blipFill>
        <p:spPr>
          <a:xfrm>
            <a:off x="6848856" y="3593592"/>
            <a:ext cx="1097280" cy="8686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147304" y="36667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2400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Curupira</a:t>
            </a:r>
            <a:endParaRPr lang="pt-BR" sz="2400" noProof="0" dirty="0"/>
          </a:p>
        </p:txBody>
      </p:sp>
      <p:sp>
        <p:nvSpPr>
          <p:cNvPr id="18" name="Text 14"/>
          <p:cNvSpPr/>
          <p:nvPr/>
        </p:nvSpPr>
        <p:spPr>
          <a:xfrm>
            <a:off x="8174736" y="412394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300" noProof="0" dirty="0">
                <a:solidFill>
                  <a:srgbClr val="C7B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Folclore</a:t>
            </a:r>
            <a:endParaRPr lang="pt-BR" sz="1300" noProof="0" dirty="0"/>
          </a:p>
        </p:txBody>
      </p:sp>
      <p:pic>
        <p:nvPicPr>
          <p:cNvPr id="19" name="Image 2" descr="/mnt/data/OBSCURA_04_Medusa.png"/>
          <p:cNvPicPr>
            <a:picLocks noChangeAspect="1"/>
          </p:cNvPicPr>
          <p:nvPr/>
        </p:nvPicPr>
        <p:blipFill>
          <a:blip r:embed="rId5"/>
          <a:srcRect t="10725" b="10725"/>
          <a:stretch/>
        </p:blipFill>
        <p:spPr>
          <a:xfrm>
            <a:off x="6848856" y="4681728"/>
            <a:ext cx="1097280" cy="8686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47304" y="4754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2400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Medusa</a:t>
            </a:r>
            <a:endParaRPr lang="pt-BR" sz="2400" noProof="0" dirty="0"/>
          </a:p>
        </p:txBody>
      </p:sp>
      <p:sp>
        <p:nvSpPr>
          <p:cNvPr id="21" name="Text 16"/>
          <p:cNvSpPr/>
          <p:nvPr/>
        </p:nvSpPr>
        <p:spPr>
          <a:xfrm>
            <a:off x="8174736" y="521208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300" noProof="0" dirty="0">
                <a:solidFill>
                  <a:srgbClr val="C7B7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Mitologia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50" kern="0" spc="130" noProof="0" dirty="0">
                <a:solidFill>
                  <a:srgbClr val="D8B47B"/>
                </a:solidFill>
                <a:latin typeface="EB Garamond SC" pitchFamily="34" charset="0"/>
                <a:ea typeface="EB Garamond SC" pitchFamily="34" charset="-122"/>
                <a:cs typeface="EB Garamond SC" pitchFamily="34" charset="-120"/>
              </a:rPr>
              <a:t>OBSCURA</a:t>
            </a:r>
            <a:endParaRPr lang="pt-BR" sz="1650" noProof="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520" b="1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Tela desktop</a:t>
            </a:r>
            <a:endParaRPr lang="pt-BR" sz="3520" noProof="0" dirty="0"/>
          </a:p>
        </p:txBody>
      </p:sp>
      <p:sp>
        <p:nvSpPr>
          <p:cNvPr id="4" name="Shape 2"/>
          <p:cNvSpPr/>
          <p:nvPr/>
        </p:nvSpPr>
        <p:spPr>
          <a:xfrm>
            <a:off x="658368" y="1399032"/>
            <a:ext cx="10881360" cy="0"/>
          </a:xfrm>
          <a:prstGeom prst="line">
            <a:avLst/>
          </a:prstGeom>
          <a:noFill/>
          <a:ln w="9525">
            <a:solidFill>
              <a:srgbClr val="40384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6519672" cy="4480560"/>
          </a:xfrm>
          <a:prstGeom prst="roundRect">
            <a:avLst>
              <a:gd name="adj" fmla="val 2653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4"/>
          <p:cNvSpPr/>
          <p:nvPr/>
        </p:nvSpPr>
        <p:spPr>
          <a:xfrm>
            <a:off x="7397496" y="1709928"/>
            <a:ext cx="4133088" cy="2313432"/>
          </a:xfrm>
          <a:prstGeom prst="roundRect">
            <a:avLst>
              <a:gd name="adj" fmla="val 5138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5"/>
          <p:cNvSpPr/>
          <p:nvPr/>
        </p:nvSpPr>
        <p:spPr>
          <a:xfrm>
            <a:off x="7607808" y="1911096"/>
            <a:ext cx="3712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Organização da página</a:t>
            </a:r>
            <a:endParaRPr lang="pt-BR" sz="1600" noProof="0" dirty="0"/>
          </a:p>
        </p:txBody>
      </p:sp>
      <p:sp>
        <p:nvSpPr>
          <p:cNvPr id="10" name="Text 6"/>
          <p:cNvSpPr/>
          <p:nvPr/>
        </p:nvSpPr>
        <p:spPr>
          <a:xfrm>
            <a:off x="7607808" y="2331720"/>
            <a:ext cx="370332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73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topo apresenta a marca, os links e a seção principal com imagem e texto. Depois vêm a pesquisa visual, as categorias e os cartões. A seção Sobre explica a proposta do atlas.</a:t>
            </a:r>
            <a:endParaRPr lang="pt-BR" sz="1730" noProof="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7B0780B3-0B21-F197-CF1F-2B2658C49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5161"/>
          <a:stretch>
            <a:fillRect/>
          </a:stretch>
        </p:blipFill>
        <p:spPr>
          <a:xfrm>
            <a:off x="796491" y="1847088"/>
            <a:ext cx="4051913" cy="2176272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3B8FD9F-4486-E249-04AE-8F85B56401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038" b="30123"/>
          <a:stretch>
            <a:fillRect/>
          </a:stretch>
        </p:blipFill>
        <p:spPr>
          <a:xfrm>
            <a:off x="2927604" y="3885438"/>
            <a:ext cx="4051913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50" kern="0" spc="130" noProof="0" dirty="0">
                <a:solidFill>
                  <a:srgbClr val="D8B47B"/>
                </a:solidFill>
                <a:latin typeface="EB Garamond SC" pitchFamily="34" charset="0"/>
                <a:ea typeface="EB Garamond SC" pitchFamily="34" charset="-122"/>
                <a:cs typeface="EB Garamond SC" pitchFamily="34" charset="-120"/>
              </a:rPr>
              <a:t>OBSCURA</a:t>
            </a:r>
            <a:endParaRPr lang="pt-BR" sz="1650" noProof="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881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3520" b="1" noProof="0" dirty="0">
                <a:solidFill>
                  <a:srgbClr val="F2E8D8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Tela mobile e responsividade</a:t>
            </a:r>
            <a:endParaRPr lang="pt-BR" sz="3520" noProof="0" dirty="0"/>
          </a:p>
        </p:txBody>
      </p:sp>
      <p:sp>
        <p:nvSpPr>
          <p:cNvPr id="4" name="Shape 2"/>
          <p:cNvSpPr/>
          <p:nvPr/>
        </p:nvSpPr>
        <p:spPr>
          <a:xfrm>
            <a:off x="658368" y="1399032"/>
            <a:ext cx="10881360" cy="0"/>
          </a:xfrm>
          <a:prstGeom prst="line">
            <a:avLst/>
          </a:prstGeom>
          <a:noFill/>
          <a:ln w="9525">
            <a:solidFill>
              <a:srgbClr val="403844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658368" y="1719072"/>
            <a:ext cx="6647688" cy="4498848"/>
          </a:xfrm>
          <a:prstGeom prst="roundRect">
            <a:avLst>
              <a:gd name="adj" fmla="val 2642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mnt/data/obscura_simple_assets/mobile_top.png"/>
          <p:cNvPicPr>
            <a:picLocks noChangeAspect="1"/>
          </p:cNvPicPr>
          <p:nvPr/>
        </p:nvPicPr>
        <p:blipFill>
          <a:blip r:embed="rId3"/>
          <a:srcRect t="17700" b="17700"/>
          <a:stretch/>
        </p:blipFill>
        <p:spPr>
          <a:xfrm>
            <a:off x="868680" y="1929384"/>
            <a:ext cx="1911096" cy="4023360"/>
          </a:xfrm>
          <a:prstGeom prst="rect">
            <a:avLst/>
          </a:prstGeom>
        </p:spPr>
      </p:pic>
      <p:pic>
        <p:nvPicPr>
          <p:cNvPr id="7" name="Image 1" descr="/mnt/data/obscura_simple_assets/mobile_cards.png"/>
          <p:cNvPicPr>
            <a:picLocks noChangeAspect="1"/>
          </p:cNvPicPr>
          <p:nvPr/>
        </p:nvPicPr>
        <p:blipFill>
          <a:blip r:embed="rId4"/>
          <a:srcRect t="17251" b="17251"/>
          <a:stretch/>
        </p:blipFill>
        <p:spPr>
          <a:xfrm>
            <a:off x="2880360" y="1929384"/>
            <a:ext cx="1911096" cy="4023360"/>
          </a:xfrm>
          <a:prstGeom prst="rect">
            <a:avLst/>
          </a:prstGeom>
        </p:spPr>
      </p:pic>
      <p:pic>
        <p:nvPicPr>
          <p:cNvPr id="8" name="Image 2" descr="/mnt/data/obscura_simple_assets/mobile_end.png"/>
          <p:cNvPicPr>
            <a:picLocks noChangeAspect="1"/>
          </p:cNvPicPr>
          <p:nvPr/>
        </p:nvPicPr>
        <p:blipFill>
          <a:blip r:embed="rId5"/>
          <a:srcRect t="18477" b="18477"/>
          <a:stretch/>
        </p:blipFill>
        <p:spPr>
          <a:xfrm>
            <a:off x="4892040" y="1929384"/>
            <a:ext cx="1911096" cy="402336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562088" y="1728216"/>
            <a:ext cx="3968496" cy="2368296"/>
          </a:xfrm>
          <a:prstGeom prst="roundRect">
            <a:avLst>
              <a:gd name="adj" fmla="val 5019"/>
            </a:avLst>
          </a:prstGeom>
          <a:solidFill>
            <a:srgbClr val="211D2A"/>
          </a:solidFill>
          <a:ln w="12700">
            <a:solidFill>
              <a:srgbClr val="211D2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5"/>
          <p:cNvSpPr/>
          <p:nvPr/>
        </p:nvSpPr>
        <p:spPr>
          <a:xfrm>
            <a:off x="7772400" y="1929384"/>
            <a:ext cx="3547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lang="pt-BR" sz="1600" b="1" noProof="0" dirty="0">
                <a:solidFill>
                  <a:srgbClr val="D8B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mudou no celular</a:t>
            </a:r>
            <a:endParaRPr lang="pt-BR" sz="1600" noProof="0" dirty="0"/>
          </a:p>
        </p:txBody>
      </p:sp>
      <p:sp>
        <p:nvSpPr>
          <p:cNvPr id="11" name="Text 6"/>
          <p:cNvSpPr/>
          <p:nvPr/>
        </p:nvSpPr>
        <p:spPr>
          <a:xfrm>
            <a:off x="7772400" y="2350008"/>
            <a:ext cx="353872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lnSpc>
                <a:spcPct val="114000"/>
              </a:lnSpc>
              <a:buNone/>
            </a:pPr>
            <a:r>
              <a:rPr lang="pt-BR" sz="1730" noProof="0" dirty="0">
                <a:solidFill>
                  <a:srgbClr val="F2E8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conteúdo é o mesmo, mas a disposição foi reorganizada. A imagem principal passou para baixo do texto; as categorias cabem na largura do dispositivo; os cartões aparecem um abaixo do outro.</a:t>
            </a:r>
            <a:endParaRPr lang="pt-BR" sz="173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EB 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1100</Words>
  <Application>Microsoft Office PowerPoint</Application>
  <PresentationFormat>Widescreen</PresentationFormat>
  <Paragraphs>92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EB Garamond</vt:lpstr>
      <vt:lpstr>EB Garamond SC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OBSCURA — Apresentação de IHC</dc:title>
  <dc:subject>Apresentação resumida do projeto de IHC — OBSCURA</dc:subject>
  <dc:creator>Maria Clara Turkot Haçul</dc:creator>
  <cp:lastModifiedBy>Maria  Turkot</cp:lastModifiedBy>
  <cp:revision>3</cp:revision>
  <dcterms:created xsi:type="dcterms:W3CDTF">2026-10-23T03:53:07Z</dcterms:created>
  <dcterms:modified xsi:type="dcterms:W3CDTF">2026-10-23T04:04:18Z</dcterms:modified>
</cp:coreProperties>
</file>